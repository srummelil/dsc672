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5143500" cx="9144000"/>
  <p:notesSz cx="6858000" cy="9144000"/>
  <p:embeddedFontLst>
    <p:embeddedFont>
      <p:font typeface="Raleway"/>
      <p:regular r:id="rId29"/>
      <p:bold r:id="rId30"/>
      <p:italic r:id="rId31"/>
      <p:boldItalic r:id="rId32"/>
    </p:embeddedFont>
    <p:embeddedFont>
      <p:font typeface="La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aleway-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7.xml"/><Relationship Id="rId33" Type="http://schemas.openxmlformats.org/officeDocument/2006/relationships/font" Target="fonts/Lato-regular.fntdata"/><Relationship Id="rId10" Type="http://schemas.openxmlformats.org/officeDocument/2006/relationships/slide" Target="slides/slide6.xml"/><Relationship Id="rId32" Type="http://schemas.openxmlformats.org/officeDocument/2006/relationships/font" Target="fonts/Raleway-boldItalic.fntdata"/><Relationship Id="rId13" Type="http://schemas.openxmlformats.org/officeDocument/2006/relationships/slide" Target="slides/slide9.xml"/><Relationship Id="rId35" Type="http://schemas.openxmlformats.org/officeDocument/2006/relationships/font" Target="fonts/Lato-italic.fntdata"/><Relationship Id="rId12" Type="http://schemas.openxmlformats.org/officeDocument/2006/relationships/slide" Target="slides/slide8.xml"/><Relationship Id="rId34" Type="http://schemas.openxmlformats.org/officeDocument/2006/relationships/font" Target="fonts/Lato-bold.fntdata"/><Relationship Id="rId15" Type="http://schemas.openxmlformats.org/officeDocument/2006/relationships/slide" Target="slides/slide11.xml"/><Relationship Id="rId14" Type="http://schemas.openxmlformats.org/officeDocument/2006/relationships/slide" Target="slides/slide10.xml"/><Relationship Id="rId36" Type="http://schemas.openxmlformats.org/officeDocument/2006/relationships/font" Target="fonts/Lato-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8" name="Shape 88"/>
        <p:cNvGrpSpPr/>
        <p:nvPr/>
      </p:nvGrpSpPr>
      <p:grpSpPr>
        <a:xfrm>
          <a:off x="0" y="0"/>
          <a:ext cx="0" cy="0"/>
          <a:chOff x="0" y="0"/>
          <a:chExt cx="0" cy="0"/>
        </a:xfrm>
      </p:grpSpPr>
      <p:sp>
        <p:nvSpPr>
          <p:cNvPr id="89" name="Google Shape;89;g166127f1523fd54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66127f1523fd54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4" name="Shape 94"/>
        <p:cNvGrpSpPr/>
        <p:nvPr/>
      </p:nvGrpSpPr>
      <p:grpSpPr>
        <a:xfrm>
          <a:off x="0" y="0"/>
          <a:ext cx="0" cy="0"/>
          <a:chOff x="0" y="0"/>
          <a:chExt cx="0" cy="0"/>
        </a:xfrm>
      </p:grpSpPr>
      <p:sp>
        <p:nvSpPr>
          <p:cNvPr id="95" name="Google Shape;95;g4efbc9c25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4efbc9c25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 name="Shape 100"/>
        <p:cNvGrpSpPr/>
        <p:nvPr/>
      </p:nvGrpSpPr>
      <p:grpSpPr>
        <a:xfrm>
          <a:off x="0" y="0"/>
          <a:ext cx="0" cy="0"/>
          <a:chOff x="0" y="0"/>
          <a:chExt cx="0" cy="0"/>
        </a:xfrm>
      </p:grpSpPr>
      <p:sp>
        <p:nvSpPr>
          <p:cNvPr id="101" name="Google Shape;101;g4efbc9c25e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4efbc9c25e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Google Shape;107;g4efbc9c25e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4efbc9c25e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2" name="Shape 112"/>
        <p:cNvGrpSpPr/>
        <p:nvPr/>
      </p:nvGrpSpPr>
      <p:grpSpPr>
        <a:xfrm>
          <a:off x="0" y="0"/>
          <a:ext cx="0" cy="0"/>
          <a:chOff x="0" y="0"/>
          <a:chExt cx="0" cy="0"/>
        </a:xfrm>
      </p:grpSpPr>
      <p:sp>
        <p:nvSpPr>
          <p:cNvPr id="113" name="Google Shape;113;g4efbc9c25e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4efbc9c25e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 name="Shape 118"/>
        <p:cNvGrpSpPr/>
        <p:nvPr/>
      </p:nvGrpSpPr>
      <p:grpSpPr>
        <a:xfrm>
          <a:off x="0" y="0"/>
          <a:ext cx="0" cy="0"/>
          <a:chOff x="0" y="0"/>
          <a:chExt cx="0" cy="0"/>
        </a:xfrm>
      </p:grpSpPr>
      <p:sp>
        <p:nvSpPr>
          <p:cNvPr id="119" name="Google Shape;119;g4efbc9c25e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4efbc9c25e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4" name="Shape 124"/>
        <p:cNvGrpSpPr/>
        <p:nvPr/>
      </p:nvGrpSpPr>
      <p:grpSpPr>
        <a:xfrm>
          <a:off x="0" y="0"/>
          <a:ext cx="0" cy="0"/>
          <a:chOff x="0" y="0"/>
          <a:chExt cx="0" cy="0"/>
        </a:xfrm>
      </p:grpSpPr>
      <p:sp>
        <p:nvSpPr>
          <p:cNvPr id="125" name="Google Shape;125;g4efbc9c25e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4efbc9c25e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g4efbc9c25e_2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4efbc9c25e_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7" name="Shape 137"/>
        <p:cNvGrpSpPr/>
        <p:nvPr/>
      </p:nvGrpSpPr>
      <p:grpSpPr>
        <a:xfrm>
          <a:off x="0" y="0"/>
          <a:ext cx="0" cy="0"/>
          <a:chOff x="0" y="0"/>
          <a:chExt cx="0" cy="0"/>
        </a:xfrm>
      </p:grpSpPr>
      <p:sp>
        <p:nvSpPr>
          <p:cNvPr id="138" name="Google Shape;138;g4efbc9c25e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4efbc9c25e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3" name="Shape 143"/>
        <p:cNvGrpSpPr/>
        <p:nvPr/>
      </p:nvGrpSpPr>
      <p:grpSpPr>
        <a:xfrm>
          <a:off x="0" y="0"/>
          <a:ext cx="0" cy="0"/>
          <a:chOff x="0" y="0"/>
          <a:chExt cx="0" cy="0"/>
        </a:xfrm>
      </p:grpSpPr>
      <p:sp>
        <p:nvSpPr>
          <p:cNvPr id="144" name="Google Shape;144;g4f9a5c7b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4f9a5c7b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9" name="Shape 149"/>
        <p:cNvGrpSpPr/>
        <p:nvPr/>
      </p:nvGrpSpPr>
      <p:grpSpPr>
        <a:xfrm>
          <a:off x="0" y="0"/>
          <a:ext cx="0" cy="0"/>
          <a:chOff x="0" y="0"/>
          <a:chExt cx="0" cy="0"/>
        </a:xfrm>
      </p:grpSpPr>
      <p:sp>
        <p:nvSpPr>
          <p:cNvPr id="150" name="Google Shape;150;g4f9a5c7ba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4f9a5c7ba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5" name="Shape 155"/>
        <p:cNvGrpSpPr/>
        <p:nvPr/>
      </p:nvGrpSpPr>
      <p:grpSpPr>
        <a:xfrm>
          <a:off x="0" y="0"/>
          <a:ext cx="0" cy="0"/>
          <a:chOff x="0" y="0"/>
          <a:chExt cx="0" cy="0"/>
        </a:xfrm>
      </p:grpSpPr>
      <p:sp>
        <p:nvSpPr>
          <p:cNvPr id="156" name="Google Shape;156;g4f9a5c7ba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4f9a5c7ba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2" name="Shape 162"/>
        <p:cNvGrpSpPr/>
        <p:nvPr/>
      </p:nvGrpSpPr>
      <p:grpSpPr>
        <a:xfrm>
          <a:off x="0" y="0"/>
          <a:ext cx="0" cy="0"/>
          <a:chOff x="0" y="0"/>
          <a:chExt cx="0" cy="0"/>
        </a:xfrm>
      </p:grpSpPr>
      <p:sp>
        <p:nvSpPr>
          <p:cNvPr id="163" name="Google Shape;163;g4f9a5c7ba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4f9a5c7ba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9" name="Shape 169"/>
        <p:cNvGrpSpPr/>
        <p:nvPr/>
      </p:nvGrpSpPr>
      <p:grpSpPr>
        <a:xfrm>
          <a:off x="0" y="0"/>
          <a:ext cx="0" cy="0"/>
          <a:chOff x="0" y="0"/>
          <a:chExt cx="0" cy="0"/>
        </a:xfrm>
      </p:grpSpPr>
      <p:sp>
        <p:nvSpPr>
          <p:cNvPr id="170" name="Google Shape;170;g4f9a5c7ba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4f9a5c7ba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6" name="Shape 176"/>
        <p:cNvGrpSpPr/>
        <p:nvPr/>
      </p:nvGrpSpPr>
      <p:grpSpPr>
        <a:xfrm>
          <a:off x="0" y="0"/>
          <a:ext cx="0" cy="0"/>
          <a:chOff x="0" y="0"/>
          <a:chExt cx="0" cy="0"/>
        </a:xfrm>
      </p:grpSpPr>
      <p:sp>
        <p:nvSpPr>
          <p:cNvPr id="177" name="Google Shape;177;g4f9a5c7ba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4f9a5c7ba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2" name="Shape 182"/>
        <p:cNvGrpSpPr/>
        <p:nvPr/>
      </p:nvGrpSpPr>
      <p:grpSpPr>
        <a:xfrm>
          <a:off x="0" y="0"/>
          <a:ext cx="0" cy="0"/>
          <a:chOff x="0" y="0"/>
          <a:chExt cx="0" cy="0"/>
        </a:xfrm>
      </p:grpSpPr>
      <p:sp>
        <p:nvSpPr>
          <p:cNvPr id="183" name="Google Shape;183;g4f91985d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4f91985d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8" name="Shape 188"/>
        <p:cNvGrpSpPr/>
        <p:nvPr/>
      </p:nvGrpSpPr>
      <p:grpSpPr>
        <a:xfrm>
          <a:off x="0" y="0"/>
          <a:ext cx="0" cy="0"/>
          <a:chOff x="0" y="0"/>
          <a:chExt cx="0" cy="0"/>
        </a:xfrm>
      </p:grpSpPr>
      <p:sp>
        <p:nvSpPr>
          <p:cNvPr id="189" name="Google Shape;189;g4f91985d0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4f91985d0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Step Ahead forecast: Forecast the next one, then shift my window one ahead and forecast the next, continue.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4" name="Shape 194"/>
        <p:cNvGrpSpPr/>
        <p:nvPr/>
      </p:nvGrpSpPr>
      <p:grpSpPr>
        <a:xfrm>
          <a:off x="0" y="0"/>
          <a:ext cx="0" cy="0"/>
          <a:chOff x="0" y="0"/>
          <a:chExt cx="0" cy="0"/>
        </a:xfrm>
      </p:grpSpPr>
      <p:sp>
        <p:nvSpPr>
          <p:cNvPr id="195" name="Google Shape;195;g4f91985d0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4f91985d0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0" name="Shape 200"/>
        <p:cNvGrpSpPr/>
        <p:nvPr/>
      </p:nvGrpSpPr>
      <p:grpSpPr>
        <a:xfrm>
          <a:off x="0" y="0"/>
          <a:ext cx="0" cy="0"/>
          <a:chOff x="0" y="0"/>
          <a:chExt cx="0" cy="0"/>
        </a:xfrm>
      </p:grpSpPr>
      <p:sp>
        <p:nvSpPr>
          <p:cNvPr id="201" name="Google Shape;201;g4f91985d0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4f91985d0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was hard to find a good ARIMA model. out of the random samples I tested, none performed better than the baseline method.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7" name="Shape 207"/>
        <p:cNvGrpSpPr/>
        <p:nvPr/>
      </p:nvGrpSpPr>
      <p:grpSpPr>
        <a:xfrm>
          <a:off x="0" y="0"/>
          <a:ext cx="0" cy="0"/>
          <a:chOff x="0" y="0"/>
          <a:chExt cx="0" cy="0"/>
        </a:xfrm>
      </p:grpSpPr>
      <p:sp>
        <p:nvSpPr>
          <p:cNvPr id="208" name="Google Shape;208;g4f91985d0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4f91985d0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3" name="Shape 213"/>
        <p:cNvGrpSpPr/>
        <p:nvPr/>
      </p:nvGrpSpPr>
      <p:grpSpPr>
        <a:xfrm>
          <a:off x="0" y="0"/>
          <a:ext cx="0" cy="0"/>
          <a:chOff x="0" y="0"/>
          <a:chExt cx="0" cy="0"/>
        </a:xfrm>
      </p:grpSpPr>
      <p:sp>
        <p:nvSpPr>
          <p:cNvPr id="214" name="Google Shape;214;g4f91985d0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4f91985d0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Adding an </a:t>
            </a:r>
            <a:r>
              <a:rPr lang="en"/>
              <a:t>exogenous</a:t>
            </a:r>
            <a:r>
              <a:rPr lang="en"/>
              <a:t> regressor instantly increased performance.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0" name="Shape 220"/>
        <p:cNvGrpSpPr/>
        <p:nvPr/>
      </p:nvGrpSpPr>
      <p:grpSpPr>
        <a:xfrm>
          <a:off x="0" y="0"/>
          <a:ext cx="0" cy="0"/>
          <a:chOff x="0" y="0"/>
          <a:chExt cx="0" cy="0"/>
        </a:xfrm>
      </p:grpSpPr>
      <p:sp>
        <p:nvSpPr>
          <p:cNvPr id="221" name="Google Shape;221;g4f91985d0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4f91985d0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7" name="Shape 227"/>
        <p:cNvGrpSpPr/>
        <p:nvPr/>
      </p:nvGrpSpPr>
      <p:grpSpPr>
        <a:xfrm>
          <a:off x="0" y="0"/>
          <a:ext cx="0" cy="0"/>
          <a:chOff x="0" y="0"/>
          <a:chExt cx="0" cy="0"/>
        </a:xfrm>
      </p:grpSpPr>
      <p:sp>
        <p:nvSpPr>
          <p:cNvPr id="228" name="Google Shape;228;g4f91985d0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4f91985d0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Energy Forecasting</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Milestone 3</a:t>
            </a:r>
            <a:endParaRPr/>
          </a:p>
          <a:p>
            <a:pPr indent="0" lvl="0" marL="0" rtl="0" algn="l">
              <a:spcBef>
                <a:spcPts val="0"/>
              </a:spcBef>
              <a:spcAft>
                <a:spcPts val="0"/>
              </a:spcAft>
              <a:buNone/>
            </a:pPr>
            <a:r>
              <a:rPr lang="en"/>
              <a:t>2/13/19</a:t>
            </a:r>
            <a:endParaRPr/>
          </a:p>
          <a:p>
            <a:pPr indent="0" lvl="0" marL="0" rtl="0" algn="l">
              <a:spcBef>
                <a:spcPts val="0"/>
              </a:spcBef>
              <a:spcAft>
                <a:spcPts val="0"/>
              </a:spcAft>
              <a:buNone/>
            </a:pPr>
            <a:r>
              <a:rPr lang="en"/>
              <a:t>John Matune, Steve Rummel, Mike Yacobucci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Solar Power Production - Data Prep and initial Modeling (Rummel)</a:t>
            </a:r>
            <a:endParaRPr/>
          </a:p>
          <a:p>
            <a:pPr indent="-311150" lvl="0" marL="457200" rtl="0" algn="l">
              <a:spcBef>
                <a:spcPts val="0"/>
              </a:spcBef>
              <a:spcAft>
                <a:spcPts val="0"/>
              </a:spcAft>
              <a:buSzPts val="1300"/>
              <a:buChar char="●"/>
            </a:pPr>
            <a:r>
              <a:rPr lang="en"/>
              <a:t>Wind Power Production</a:t>
            </a:r>
            <a:endParaRPr/>
          </a:p>
          <a:p>
            <a:pPr indent="-311150" lvl="0" marL="457200" rtl="0" algn="l">
              <a:spcBef>
                <a:spcPts val="0"/>
              </a:spcBef>
              <a:spcAft>
                <a:spcPts val="0"/>
              </a:spcAft>
              <a:buSzPts val="1300"/>
              <a:buChar char="●"/>
            </a:pPr>
            <a:r>
              <a:rPr lang="en"/>
              <a:t>Power Consumption Modeling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rgbClr val="000000"/>
              </a:buClr>
              <a:buSzPts val="1100"/>
              <a:buFont typeface="Arial"/>
              <a:buNone/>
            </a:pPr>
            <a:r>
              <a:rPr lang="en" sz="1800">
                <a:solidFill>
                  <a:srgbClr val="000000"/>
                </a:solidFill>
              </a:rPr>
              <a:t>Solar Power Production:  Data prep and Modeling by Steve Rummel</a:t>
            </a:r>
            <a:endParaRPr sz="1800">
              <a:solidFill>
                <a:srgbClr val="000000"/>
              </a:solidFill>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a:t>Progress to date:</a:t>
            </a:r>
            <a:endParaRPr/>
          </a:p>
          <a:p>
            <a:pPr indent="-311150" lvl="0" marL="457200" rtl="0" algn="l">
              <a:lnSpc>
                <a:spcPct val="100000"/>
              </a:lnSpc>
              <a:spcBef>
                <a:spcPts val="1600"/>
              </a:spcBef>
              <a:spcAft>
                <a:spcPts val="0"/>
              </a:spcAft>
              <a:buSzPts val="1300"/>
              <a:buChar char="●"/>
            </a:pPr>
            <a:r>
              <a:rPr lang="en"/>
              <a:t>Initial data load completed milestone 2</a:t>
            </a:r>
            <a:endParaRPr/>
          </a:p>
          <a:p>
            <a:pPr indent="-311150" lvl="0" marL="457200" rtl="0" algn="l">
              <a:lnSpc>
                <a:spcPct val="100000"/>
              </a:lnSpc>
              <a:spcBef>
                <a:spcPts val="0"/>
              </a:spcBef>
              <a:spcAft>
                <a:spcPts val="0"/>
              </a:spcAft>
              <a:buSzPts val="1300"/>
              <a:buChar char="●"/>
            </a:pPr>
            <a:r>
              <a:rPr lang="en"/>
              <a:t>Identified level of granularity for analysis</a:t>
            </a:r>
            <a:endParaRPr/>
          </a:p>
          <a:p>
            <a:pPr indent="-311150" lvl="0" marL="457200" rtl="0" algn="l">
              <a:lnSpc>
                <a:spcPct val="100000"/>
              </a:lnSpc>
              <a:spcBef>
                <a:spcPts val="0"/>
              </a:spcBef>
              <a:spcAft>
                <a:spcPts val="0"/>
              </a:spcAft>
              <a:buSzPts val="1300"/>
              <a:buChar char="●"/>
            </a:pPr>
            <a:r>
              <a:rPr lang="en"/>
              <a:t>Identified independent variables for retention</a:t>
            </a:r>
            <a:endParaRPr/>
          </a:p>
          <a:p>
            <a:pPr indent="-311150" lvl="0" marL="457200" rtl="0" algn="l">
              <a:lnSpc>
                <a:spcPct val="100000"/>
              </a:lnSpc>
              <a:spcBef>
                <a:spcPts val="0"/>
              </a:spcBef>
              <a:spcAft>
                <a:spcPts val="0"/>
              </a:spcAft>
              <a:buSzPts val="1300"/>
              <a:buChar char="●"/>
            </a:pPr>
            <a:r>
              <a:rPr lang="en"/>
              <a:t>Filled gaps in data</a:t>
            </a:r>
            <a:endParaRPr/>
          </a:p>
          <a:p>
            <a:pPr indent="-311150" lvl="0" marL="457200" rtl="0" algn="l">
              <a:lnSpc>
                <a:spcPct val="100000"/>
              </a:lnSpc>
              <a:spcBef>
                <a:spcPts val="0"/>
              </a:spcBef>
              <a:spcAft>
                <a:spcPts val="0"/>
              </a:spcAft>
              <a:buSzPts val="1300"/>
              <a:buChar char="●"/>
            </a:pPr>
            <a:r>
              <a:rPr lang="en"/>
              <a:t>Prepared SARIMA model for dependent variable (Solar_KWH)</a:t>
            </a:r>
            <a:endParaRPr/>
          </a:p>
          <a:p>
            <a:pPr indent="-311150" lvl="0" marL="457200" rtl="0" algn="l">
              <a:lnSpc>
                <a:spcPct val="100000"/>
              </a:lnSpc>
              <a:spcBef>
                <a:spcPts val="0"/>
              </a:spcBef>
              <a:spcAft>
                <a:spcPts val="0"/>
              </a:spcAft>
              <a:buSzPts val="1300"/>
              <a:buChar char="●"/>
            </a:pPr>
            <a:r>
              <a:rPr lang="en"/>
              <a:t>Next Steps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Identified level of granularity for analysis</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100"/>
              <a:t>I am modeling solar energy production at a daily level, as solar energy production is directly time-constrained and most independent variables are not directly constrained, i.e., you cannot gather solar energy at midnight, but there is precipitation, dew point, etc. which may be somewhat related to day/night heating and cooling cycles, but not as related as energy production.</a:t>
            </a:r>
            <a:br>
              <a:rPr lang="en" sz="1100"/>
            </a:br>
            <a:br>
              <a:rPr lang="en" sz="1100"/>
            </a:br>
            <a:r>
              <a:rPr lang="en" sz="1100"/>
              <a:t>While our overall analysis has a goal of matching production with consumption by hour, this is an intrinsic flaw – we know from our initial analysis that energy consumption spikes at times when solar power drops. For example, in summer, in the late afternoon, people leave work, go home and turn on their air conditioners (we see the spike and infer this behavior), but solar energy production wanes during this timeframe.</a:t>
            </a:r>
            <a:br>
              <a:rPr lang="en" sz="1100"/>
            </a:br>
            <a:br>
              <a:rPr lang="en" sz="1100"/>
            </a:br>
            <a:r>
              <a:rPr lang="en" sz="1100"/>
              <a:t>We are coordinating our analysis so we can, if and when possible, convert to an hourly analysis across solar and wind production and consumption. An alternative is to assume the existence of batteries, dynamos or other method of storing energy from high-production times for later expenditure.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Identified independent variables for retention</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1000" u="sng"/>
              <a:t>Removing</a:t>
            </a:r>
            <a:r>
              <a:rPr lang="en" sz="1000"/>
              <a:t> 'Solar_Elevation', as there is no good way to aggregate this by day, nor is it necessarily relevant except as a performance measure of the solar array, which is not under analysis.</a:t>
            </a:r>
            <a:br>
              <a:rPr lang="en" sz="1000"/>
            </a:br>
            <a:br>
              <a:rPr lang="en" sz="1000"/>
            </a:br>
            <a:r>
              <a:rPr b="1" lang="en" sz="1000" u="sng"/>
              <a:t>Removing</a:t>
            </a:r>
            <a:r>
              <a:rPr lang="en" sz="1000"/>
              <a:t> ‘Wind_Speed_at_Windfarm’, as we have a </a:t>
            </a:r>
            <a:r>
              <a:rPr lang="en" sz="1000"/>
              <a:t>wind speed</a:t>
            </a:r>
            <a:r>
              <a:rPr lang="en" sz="1000"/>
              <a:t> measure and it is more likely wind at the solar array would impact production than at the windfarm (e.g., by shaking or destabilizing the array)</a:t>
            </a:r>
            <a:br>
              <a:rPr lang="en" sz="1000"/>
            </a:br>
            <a:br>
              <a:rPr lang="en" sz="1000"/>
            </a:br>
            <a:r>
              <a:rPr b="1" lang="en" sz="1000" u="sng"/>
              <a:t>Retaining</a:t>
            </a:r>
            <a:r>
              <a:rPr lang="en" sz="1000"/>
              <a:t>:</a:t>
            </a:r>
            <a:br>
              <a:rPr lang="en" sz="1000"/>
            </a:br>
            <a:r>
              <a:rPr lang="en" sz="1000"/>
              <a:t>'Cloud_Cover_Fraction' - Average by day</a:t>
            </a:r>
            <a:br>
              <a:rPr lang="en" sz="1000"/>
            </a:br>
            <a:r>
              <a:rPr lang="en" sz="1000"/>
              <a:t>'Dew_Point' - Average by day</a:t>
            </a:r>
            <a:br>
              <a:rPr lang="en" sz="1000"/>
            </a:br>
            <a:r>
              <a:rPr lang="en" sz="1000"/>
              <a:t>'Humidity_Fraction' - Average by day</a:t>
            </a:r>
            <a:br>
              <a:rPr lang="en" sz="1000"/>
            </a:br>
            <a:r>
              <a:rPr lang="en" sz="1000"/>
              <a:t>'Precipitation' - Average by day</a:t>
            </a:r>
            <a:br>
              <a:rPr lang="en" sz="1000"/>
            </a:br>
            <a:r>
              <a:rPr lang="en" sz="1000"/>
              <a:t>'Pressure' - Average by day</a:t>
            </a:r>
            <a:br>
              <a:rPr lang="en" sz="1000"/>
            </a:br>
            <a:r>
              <a:rPr lang="en" sz="1000"/>
              <a:t>'Temperature' - Average by day</a:t>
            </a:r>
            <a:br>
              <a:rPr lang="en" sz="1000"/>
            </a:br>
            <a:r>
              <a:rPr lang="en" sz="1000"/>
              <a:t>'Visibility' - Average by day</a:t>
            </a:r>
            <a:br>
              <a:rPr lang="en" sz="1000"/>
            </a:br>
            <a:r>
              <a:rPr lang="en" sz="1000"/>
              <a:t>'Wind_Speed_AT_SOLARRAY' - Average by day</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Filled gaps in data</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lang="en"/>
              <a:t>Insert records for missing date-times (current granularity: 24-hour)</a:t>
            </a:r>
            <a:endParaRPr/>
          </a:p>
          <a:p>
            <a:pPr indent="-311150" lvl="0" marL="457200" rtl="0" algn="l">
              <a:spcBef>
                <a:spcPts val="0"/>
              </a:spcBef>
              <a:spcAft>
                <a:spcPts val="0"/>
              </a:spcAft>
              <a:buSzPts val="1300"/>
              <a:buAutoNum type="arabicPeriod"/>
            </a:pPr>
            <a:r>
              <a:rPr lang="en"/>
              <a:t>Impute missing values for independent variables by linear interpolation between adjacent hours, on the assumption that weather changes, but not so suddenly that we would expect huge variance in the pace of an hour.</a:t>
            </a:r>
            <a:endParaRPr/>
          </a:p>
          <a:p>
            <a:pPr indent="-311150" lvl="0" marL="457200" rtl="0" algn="l">
              <a:spcBef>
                <a:spcPts val="0"/>
              </a:spcBef>
              <a:spcAft>
                <a:spcPts val="0"/>
              </a:spcAft>
              <a:buSzPts val="1300"/>
              <a:buAutoNum type="arabicPeriod"/>
            </a:pPr>
            <a:r>
              <a:rPr lang="en"/>
              <a:t> Aggregate independent variables by averaging their values (e.g., average precipitation, cloud cover, etc.) as these factors would impact daily solar production in aggregate, but not in an additive or max/min manner. </a:t>
            </a:r>
            <a:endParaRPr/>
          </a:p>
          <a:p>
            <a:pPr indent="-311150" lvl="0" marL="457200" rtl="0" algn="l">
              <a:spcBef>
                <a:spcPts val="0"/>
              </a:spcBef>
              <a:spcAft>
                <a:spcPts val="0"/>
              </a:spcAft>
              <a:buSzPts val="1300"/>
              <a:buAutoNum type="arabicPeriod"/>
            </a:pPr>
            <a:r>
              <a:rPr lang="en"/>
              <a:t>Aggregate solar production by summation, as we are measuring total solar production within a day. As noted previously, this aggregation removes (much of) the direct effect of day/night cycles.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Prepared SARIMA model for dependent variable (Solar_KWH)</a:t>
            </a:r>
            <a:endParaRPr sz="1800"/>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Using the Python 3x ‘statsmodels’ SARIMAX model</a:t>
            </a:r>
            <a:endParaRPr/>
          </a:p>
          <a:p>
            <a:pPr indent="-311150" lvl="0" marL="457200" rtl="0" algn="l">
              <a:spcBef>
                <a:spcPts val="0"/>
              </a:spcBef>
              <a:spcAft>
                <a:spcPts val="0"/>
              </a:spcAft>
              <a:buSzPts val="1300"/>
              <a:buChar char="●"/>
            </a:pPr>
            <a:r>
              <a:rPr lang="en"/>
              <a:t>Iteratively determine the best values for:</a:t>
            </a:r>
            <a:endParaRPr/>
          </a:p>
          <a:p>
            <a:pPr indent="-298450" lvl="1" marL="914400" rtl="0" algn="l">
              <a:spcBef>
                <a:spcPts val="0"/>
              </a:spcBef>
              <a:spcAft>
                <a:spcPts val="0"/>
              </a:spcAft>
              <a:buSzPts val="1100"/>
              <a:buChar char="○"/>
            </a:pPr>
            <a:r>
              <a:rPr lang="en"/>
              <a:t>p (</a:t>
            </a:r>
            <a:r>
              <a:rPr lang="en"/>
              <a:t>number of days to ‘look back’</a:t>
            </a:r>
            <a:endParaRPr/>
          </a:p>
          <a:p>
            <a:pPr indent="-298450" lvl="1" marL="914400" rtl="0" algn="l">
              <a:spcBef>
                <a:spcPts val="0"/>
              </a:spcBef>
              <a:spcAft>
                <a:spcPts val="0"/>
              </a:spcAft>
              <a:buSzPts val="1100"/>
              <a:buChar char="○"/>
            </a:pPr>
            <a:r>
              <a:rPr lang="en"/>
              <a:t>d (how many times one should apply the time differencing operator)</a:t>
            </a:r>
            <a:endParaRPr/>
          </a:p>
          <a:p>
            <a:pPr indent="-298450" lvl="1" marL="914400" rtl="0" algn="l">
              <a:spcBef>
                <a:spcPts val="0"/>
              </a:spcBef>
              <a:spcAft>
                <a:spcPts val="0"/>
              </a:spcAft>
              <a:buSzPts val="1100"/>
              <a:buChar char="○"/>
            </a:pPr>
            <a:r>
              <a:rPr lang="en"/>
              <a:t>q (the number of prior errors that should influence the current period value)</a:t>
            </a:r>
            <a:endParaRPr/>
          </a:p>
          <a:p>
            <a:pPr indent="-298450" lvl="1" marL="914400" rtl="0" algn="l">
              <a:spcBef>
                <a:spcPts val="0"/>
              </a:spcBef>
              <a:spcAft>
                <a:spcPts val="0"/>
              </a:spcAft>
              <a:buSzPts val="1100"/>
              <a:buChar char="○"/>
            </a:pPr>
            <a:r>
              <a:rPr lang="en"/>
              <a:t>(P, D, Q, S) seasonal component of the Seasonal ARIMA model (generally </a:t>
            </a:r>
            <a:r>
              <a:rPr lang="en"/>
              <a:t>analogous</a:t>
            </a:r>
            <a:r>
              <a:rPr lang="en"/>
              <a:t> to the above, but related to the seasonal component of the model)</a:t>
            </a:r>
            <a:endParaRPr/>
          </a:p>
          <a:p>
            <a:pPr indent="-298450" lvl="2" marL="1371600" rtl="0" algn="l">
              <a:spcBef>
                <a:spcPts val="0"/>
              </a:spcBef>
              <a:spcAft>
                <a:spcPts val="0"/>
              </a:spcAft>
              <a:buSzPts val="1100"/>
              <a:buChar char="■"/>
            </a:pPr>
            <a:r>
              <a:rPr lang="en"/>
              <a:t>P: Number of seasonal autoregressive (SAR) terms</a:t>
            </a:r>
            <a:endParaRPr/>
          </a:p>
          <a:p>
            <a:pPr indent="-298450" lvl="2" marL="1371600" rtl="0" algn="l">
              <a:spcBef>
                <a:spcPts val="0"/>
              </a:spcBef>
              <a:spcAft>
                <a:spcPts val="0"/>
              </a:spcAft>
              <a:buSzPts val="1100"/>
              <a:buChar char="■"/>
            </a:pPr>
            <a:r>
              <a:rPr lang="en"/>
              <a:t>D: Number of seasonal differences</a:t>
            </a:r>
            <a:endParaRPr/>
          </a:p>
          <a:p>
            <a:pPr indent="-298450" lvl="2" marL="1371600" rtl="0" algn="l">
              <a:spcBef>
                <a:spcPts val="0"/>
              </a:spcBef>
              <a:spcAft>
                <a:spcPts val="0"/>
              </a:spcAft>
              <a:buSzPts val="1100"/>
              <a:buChar char="■"/>
            </a:pPr>
            <a:r>
              <a:rPr lang="en"/>
              <a:t>Q: Number of seasonal moving average (SMA) terms</a:t>
            </a:r>
            <a:endParaRPr/>
          </a:p>
          <a:p>
            <a:pPr indent="-298450" lvl="2" marL="1371600" rtl="0" algn="l">
              <a:spcBef>
                <a:spcPts val="0"/>
              </a:spcBef>
              <a:spcAft>
                <a:spcPts val="0"/>
              </a:spcAft>
              <a:buSzPts val="1100"/>
              <a:buChar char="■"/>
            </a:pPr>
            <a:r>
              <a:rPr lang="en"/>
              <a:t>S: Number of periods (Note: we have daily data, but we expect variations by month or season)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 SARIMA Model</a:t>
            </a:r>
            <a:endParaRPr/>
          </a:p>
        </p:txBody>
      </p:sp>
      <p:pic>
        <p:nvPicPr>
          <p:cNvPr id="129" name="Google Shape;129;p20"/>
          <p:cNvPicPr preferRelativeResize="0"/>
          <p:nvPr/>
        </p:nvPicPr>
        <p:blipFill>
          <a:blip r:embed="rId3">
            <a:alphaModFix/>
          </a:blip>
          <a:stretch>
            <a:fillRect/>
          </a:stretch>
        </p:blipFill>
        <p:spPr>
          <a:xfrm>
            <a:off x="1598100" y="1913000"/>
            <a:ext cx="5951389" cy="298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 SARIMA Model: Results</a:t>
            </a:r>
            <a:endParaRPr/>
          </a:p>
        </p:txBody>
      </p:sp>
      <p:pic>
        <p:nvPicPr>
          <p:cNvPr id="135" name="Google Shape;135;p21"/>
          <p:cNvPicPr preferRelativeResize="0"/>
          <p:nvPr/>
        </p:nvPicPr>
        <p:blipFill>
          <a:blip r:embed="rId3">
            <a:alphaModFix/>
          </a:blip>
          <a:stretch>
            <a:fillRect/>
          </a:stretch>
        </p:blipFill>
        <p:spPr>
          <a:xfrm>
            <a:off x="672950" y="1920800"/>
            <a:ext cx="3731063" cy="2984850"/>
          </a:xfrm>
          <a:prstGeom prst="rect">
            <a:avLst/>
          </a:prstGeom>
          <a:noFill/>
          <a:ln>
            <a:noFill/>
          </a:ln>
        </p:spPr>
      </p:pic>
      <p:sp>
        <p:nvSpPr>
          <p:cNvPr id="136" name="Google Shape;136;p21"/>
          <p:cNvSpPr txBox="1"/>
          <p:nvPr/>
        </p:nvSpPr>
        <p:spPr>
          <a:xfrm>
            <a:off x="4708400" y="1934650"/>
            <a:ext cx="4195500" cy="29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Lato"/>
                <a:ea typeface="Lato"/>
                <a:cs typeface="Lato"/>
                <a:sym typeface="Lato"/>
              </a:rPr>
              <a:t>We want to verify that the residuals of our model are uncorrelated and </a:t>
            </a:r>
            <a:br>
              <a:rPr lang="en" sz="900">
                <a:latin typeface="Lato"/>
                <a:ea typeface="Lato"/>
                <a:cs typeface="Lato"/>
                <a:sym typeface="Lato"/>
              </a:rPr>
            </a:br>
            <a:r>
              <a:rPr lang="en" sz="900">
                <a:latin typeface="Lato"/>
                <a:ea typeface="Lato"/>
                <a:cs typeface="Lato"/>
                <a:sym typeface="Lato"/>
              </a:rPr>
              <a:t>normally distributed, with a mean of  zero. </a:t>
            </a:r>
            <a:endParaRPr sz="900">
              <a:latin typeface="Lato"/>
              <a:ea typeface="Lato"/>
              <a:cs typeface="Lato"/>
              <a:sym typeface="Lato"/>
            </a:endParaRPr>
          </a:p>
          <a:p>
            <a:pPr indent="0" lvl="0" marL="0" rtl="0" algn="l">
              <a:spcBef>
                <a:spcPts val="0"/>
              </a:spcBef>
              <a:spcAft>
                <a:spcPts val="0"/>
              </a:spcAft>
              <a:buNone/>
            </a:pPr>
            <a:br>
              <a:rPr lang="en" sz="900">
                <a:latin typeface="Lato"/>
                <a:ea typeface="Lato"/>
                <a:cs typeface="Lato"/>
                <a:sym typeface="Lato"/>
              </a:rPr>
            </a:br>
            <a:r>
              <a:rPr lang="en" sz="900">
                <a:latin typeface="Lato"/>
                <a:ea typeface="Lato"/>
                <a:cs typeface="Lato"/>
                <a:sym typeface="Lato"/>
              </a:rPr>
              <a:t>In this case, our model diagnostics suggests that the model residuals are roughly normally distributed based on the following:</a:t>
            </a:r>
            <a:br>
              <a:rPr lang="en" sz="900">
                <a:latin typeface="Lato"/>
                <a:ea typeface="Lato"/>
                <a:cs typeface="Lato"/>
                <a:sym typeface="Lato"/>
              </a:rPr>
            </a:br>
            <a:br>
              <a:rPr lang="en" sz="900">
                <a:latin typeface="Lato"/>
                <a:ea typeface="Lato"/>
                <a:cs typeface="Lato"/>
                <a:sym typeface="Lato"/>
              </a:rPr>
            </a:br>
            <a:r>
              <a:rPr lang="en" sz="900">
                <a:latin typeface="Lato"/>
                <a:ea typeface="Lato"/>
                <a:cs typeface="Lato"/>
                <a:sym typeface="Lato"/>
              </a:rPr>
              <a:t>Top right plot, the red KDE line follows the normal distribution (N(0,1)), indicating that the residuals are roughly normally distributed.</a:t>
            </a:r>
            <a:br>
              <a:rPr lang="en" sz="900">
                <a:latin typeface="Lato"/>
                <a:ea typeface="Lato"/>
                <a:cs typeface="Lato"/>
                <a:sym typeface="Lato"/>
              </a:rPr>
            </a:br>
            <a:br>
              <a:rPr lang="en" sz="900">
                <a:latin typeface="Lato"/>
                <a:ea typeface="Lato"/>
                <a:cs typeface="Lato"/>
                <a:sym typeface="Lato"/>
              </a:rPr>
            </a:br>
            <a:r>
              <a:rPr lang="en" sz="900">
                <a:latin typeface="Lato"/>
                <a:ea typeface="Lato"/>
                <a:cs typeface="Lato"/>
                <a:sym typeface="Lato"/>
              </a:rPr>
              <a:t>The qq-plot on the lower left shows that the ordered distribution of residuals (blue dots) follows the linear trend of the samples taken from a standard normal distribution with N(0, 1), indicating that the residuals are roughly normally distributed.</a:t>
            </a:r>
            <a:br>
              <a:rPr lang="en" sz="900">
                <a:latin typeface="Lato"/>
                <a:ea typeface="Lato"/>
                <a:cs typeface="Lato"/>
                <a:sym typeface="Lato"/>
              </a:rPr>
            </a:br>
            <a:br>
              <a:rPr lang="en" sz="900">
                <a:latin typeface="Lato"/>
                <a:ea typeface="Lato"/>
                <a:cs typeface="Lato"/>
                <a:sym typeface="Lato"/>
              </a:rPr>
            </a:br>
            <a:r>
              <a:rPr lang="en" sz="900">
                <a:latin typeface="Lato"/>
                <a:ea typeface="Lato"/>
                <a:cs typeface="Lato"/>
                <a:sym typeface="Lato"/>
              </a:rPr>
              <a:t>The top left plot of residuals over time show no pattern (i.e., appear random), and the correlogram plot on the lower right shows that the time series residuals do not correlate  with lagged versions of itself.</a:t>
            </a:r>
            <a:endParaRPr sz="900">
              <a:latin typeface="Lato"/>
              <a:ea typeface="Lato"/>
              <a:cs typeface="Lato"/>
              <a:sym typeface="Lato"/>
            </a:endParaRPr>
          </a:p>
          <a:p>
            <a:pPr indent="0" lvl="0" marL="0" rtl="0" algn="l">
              <a:spcBef>
                <a:spcPts val="0"/>
              </a:spcBef>
              <a:spcAft>
                <a:spcPts val="0"/>
              </a:spcAft>
              <a:buNone/>
            </a:pPr>
            <a:br>
              <a:rPr lang="en" sz="900">
                <a:latin typeface="Lato"/>
                <a:ea typeface="Lato"/>
                <a:cs typeface="Lato"/>
                <a:sym typeface="Lato"/>
              </a:rPr>
            </a:br>
            <a:r>
              <a:rPr lang="en" sz="900">
                <a:latin typeface="Lato"/>
                <a:ea typeface="Lato"/>
                <a:cs typeface="Lato"/>
                <a:sym typeface="Lato"/>
              </a:rPr>
              <a:t>This is generally a decent start - we have seasonality, and we can account for almost all of it in our model. </a:t>
            </a:r>
            <a:endParaRPr sz="900">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Steps</a:t>
            </a:r>
            <a:endParaRPr/>
          </a:p>
        </p:txBody>
      </p:sp>
      <p:sp>
        <p:nvSpPr>
          <p:cNvPr id="142" name="Google Shape;142;p2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Continue to refine the SARIMA model, especially:</a:t>
            </a:r>
            <a:endParaRPr/>
          </a:p>
          <a:p>
            <a:pPr indent="-311150" lvl="0" marL="457200" rtl="0" algn="l">
              <a:spcBef>
                <a:spcPts val="1600"/>
              </a:spcBef>
              <a:spcAft>
                <a:spcPts val="0"/>
              </a:spcAft>
              <a:buSzPts val="1300"/>
              <a:buChar char="●"/>
            </a:pPr>
            <a:r>
              <a:rPr lang="en"/>
              <a:t>Find optimal lookback period that yields insight (i.e., better predictive results)</a:t>
            </a:r>
            <a:endParaRPr/>
          </a:p>
          <a:p>
            <a:pPr indent="-311150" lvl="0" marL="457200" rtl="0" algn="l">
              <a:spcBef>
                <a:spcPts val="0"/>
              </a:spcBef>
              <a:spcAft>
                <a:spcPts val="0"/>
              </a:spcAft>
              <a:buSzPts val="1300"/>
              <a:buChar char="●"/>
            </a:pPr>
            <a:r>
              <a:rPr lang="en"/>
              <a:t>Find optimal P, D and Q values for the seasonality component</a:t>
            </a:r>
            <a:endParaRPr/>
          </a:p>
          <a:p>
            <a:pPr indent="-311150" lvl="0" marL="457200" rtl="0" algn="l">
              <a:spcBef>
                <a:spcPts val="0"/>
              </a:spcBef>
              <a:spcAft>
                <a:spcPts val="0"/>
              </a:spcAft>
              <a:buSzPts val="1300"/>
              <a:buChar char="●"/>
            </a:pPr>
            <a:r>
              <a:rPr lang="en"/>
              <a:t>Integrate independent variables to the model using an array of exogenous regressors (‘exog’) as inputs to the model</a:t>
            </a:r>
            <a:endParaRPr/>
          </a:p>
          <a:p>
            <a:pPr indent="-311150" lvl="0" marL="457200" rtl="0" algn="l">
              <a:spcBef>
                <a:spcPts val="0"/>
              </a:spcBef>
              <a:spcAft>
                <a:spcPts val="0"/>
              </a:spcAft>
              <a:buSzPts val="1300"/>
              <a:buChar char="●"/>
            </a:pPr>
            <a:r>
              <a:rPr lang="en"/>
              <a:t>Integrate output with Wind production and consumption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Power Consumption Modeling</a:t>
            </a:r>
            <a:endParaRPr/>
          </a:p>
        </p:txBody>
      </p:sp>
      <p:sp>
        <p:nvSpPr>
          <p:cNvPr id="148" name="Google Shape;148;p2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Modeling Strategy</a:t>
            </a:r>
            <a:endParaRPr/>
          </a:p>
          <a:p>
            <a:pPr indent="-311150" lvl="0" marL="457200" rtl="0" algn="l">
              <a:spcBef>
                <a:spcPts val="0"/>
              </a:spcBef>
              <a:spcAft>
                <a:spcPts val="0"/>
              </a:spcAft>
              <a:buSzPts val="1300"/>
              <a:buChar char="●"/>
            </a:pPr>
            <a:r>
              <a:rPr lang="en"/>
              <a:t>Preprocessing</a:t>
            </a:r>
            <a:endParaRPr/>
          </a:p>
          <a:p>
            <a:pPr indent="-311150" lvl="0" marL="457200" rtl="0" algn="l">
              <a:spcBef>
                <a:spcPts val="0"/>
              </a:spcBef>
              <a:spcAft>
                <a:spcPts val="0"/>
              </a:spcAft>
              <a:buSzPts val="1300"/>
              <a:buChar char="●"/>
            </a:pPr>
            <a:r>
              <a:rPr lang="en"/>
              <a:t>Model Details</a:t>
            </a:r>
            <a:endParaRPr/>
          </a:p>
          <a:p>
            <a:pPr indent="-311150" lvl="0" marL="457200" rtl="0" algn="l">
              <a:spcBef>
                <a:spcPts val="0"/>
              </a:spcBef>
              <a:spcAft>
                <a:spcPts val="0"/>
              </a:spcAft>
              <a:buSzPts val="1300"/>
              <a:buChar char="●"/>
            </a:pPr>
            <a:r>
              <a:rPr lang="en"/>
              <a:t>Next Steps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Modeling Strategy</a:t>
            </a:r>
            <a:endParaRPr/>
          </a:p>
        </p:txBody>
      </p:sp>
      <p:sp>
        <p:nvSpPr>
          <p:cNvPr id="154" name="Google Shape;154;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Break from pure forecasting - instead attempt a tree-based modeling approach to predict energy consumption based on conditions of that hour</a:t>
            </a:r>
            <a:endParaRPr/>
          </a:p>
          <a:p>
            <a:pPr indent="-298450" lvl="1" marL="914400" rtl="0" algn="l">
              <a:spcBef>
                <a:spcPts val="0"/>
              </a:spcBef>
              <a:spcAft>
                <a:spcPts val="0"/>
              </a:spcAft>
              <a:buSzPts val="1100"/>
              <a:buChar char="○"/>
            </a:pPr>
            <a:r>
              <a:rPr lang="en"/>
              <a:t>Built bagged and boosted model types</a:t>
            </a:r>
            <a:endParaRPr/>
          </a:p>
          <a:p>
            <a:pPr indent="-311150" lvl="0" marL="457200" rtl="0" algn="l">
              <a:spcBef>
                <a:spcPts val="0"/>
              </a:spcBef>
              <a:spcAft>
                <a:spcPts val="0"/>
              </a:spcAft>
              <a:buSzPts val="1300"/>
              <a:buChar char="●"/>
            </a:pPr>
            <a:r>
              <a:rPr lang="en"/>
              <a:t>Seasonality to be learned by model based on time features</a:t>
            </a:r>
            <a:endParaRPr/>
          </a:p>
          <a:p>
            <a:pPr indent="-311150" lvl="0" marL="457200" rtl="0" algn="l">
              <a:spcBef>
                <a:spcPts val="0"/>
              </a:spcBef>
              <a:spcAft>
                <a:spcPts val="0"/>
              </a:spcAft>
              <a:buSzPts val="1300"/>
              <a:buChar char="●"/>
            </a:pPr>
            <a:r>
              <a:rPr lang="en"/>
              <a:t>Success measure: RMSE (hourly level) and R^2 score (built in)</a:t>
            </a:r>
            <a:endParaRPr/>
          </a:p>
          <a:p>
            <a:pPr indent="-311150" lvl="0" marL="457200" rtl="0" algn="l">
              <a:spcBef>
                <a:spcPts val="0"/>
              </a:spcBef>
              <a:spcAft>
                <a:spcPts val="0"/>
              </a:spcAft>
              <a:buSzPts val="1300"/>
              <a:buChar char="●"/>
            </a:pPr>
            <a:r>
              <a:rPr lang="en"/>
              <a:t>Tuning method: Random search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Consumption Preprocessing</a:t>
            </a:r>
            <a:endParaRPr/>
          </a:p>
        </p:txBody>
      </p:sp>
      <p:sp>
        <p:nvSpPr>
          <p:cNvPr id="160" name="Google Shape;160;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Join weather data to city consumption data by hourly index</a:t>
            </a:r>
            <a:endParaRPr/>
          </a:p>
          <a:p>
            <a:pPr indent="-311150" lvl="0" marL="457200" rtl="0" algn="l">
              <a:spcBef>
                <a:spcPts val="0"/>
              </a:spcBef>
              <a:spcAft>
                <a:spcPts val="0"/>
              </a:spcAft>
              <a:buSzPts val="1300"/>
              <a:buChar char="●"/>
            </a:pPr>
            <a:r>
              <a:rPr lang="en"/>
              <a:t>Create string variables for Month, Day and Hour</a:t>
            </a:r>
            <a:endParaRPr/>
          </a:p>
          <a:p>
            <a:pPr indent="-311150" lvl="0" marL="457200" rtl="0" algn="l">
              <a:spcBef>
                <a:spcPts val="0"/>
              </a:spcBef>
              <a:spcAft>
                <a:spcPts val="0"/>
              </a:spcAft>
              <a:buSzPts val="1300"/>
              <a:buChar char="●"/>
            </a:pPr>
            <a:r>
              <a:rPr lang="en"/>
              <a:t>Sum sector consumption to generate target variable</a:t>
            </a:r>
            <a:endParaRPr/>
          </a:p>
          <a:p>
            <a:pPr indent="-311150" lvl="0" marL="457200" rtl="0" algn="l">
              <a:spcBef>
                <a:spcPts val="0"/>
              </a:spcBef>
              <a:spcAft>
                <a:spcPts val="0"/>
              </a:spcAft>
              <a:buSzPts val="1300"/>
              <a:buChar char="●"/>
            </a:pPr>
            <a:r>
              <a:rPr lang="en"/>
              <a:t>Produce dummy variables for categoricals</a:t>
            </a:r>
            <a:endParaRPr/>
          </a:p>
          <a:p>
            <a:pPr indent="-298450" lvl="1" marL="914400" rtl="0" algn="l">
              <a:spcBef>
                <a:spcPts val="0"/>
              </a:spcBef>
              <a:spcAft>
                <a:spcPts val="0"/>
              </a:spcAft>
              <a:buSzPts val="1100"/>
              <a:buChar char="○"/>
            </a:pPr>
            <a:r>
              <a:rPr lang="en"/>
              <a:t>Final modeling set size: 8,759 Rows x 104 Features</a:t>
            </a:r>
            <a:endParaRPr/>
          </a:p>
          <a:p>
            <a:pPr indent="-311150" lvl="0" marL="457200" rtl="0" algn="l">
              <a:spcBef>
                <a:spcPts val="0"/>
              </a:spcBef>
              <a:spcAft>
                <a:spcPts val="0"/>
              </a:spcAft>
              <a:buSzPts val="1300"/>
              <a:buChar char="●"/>
            </a:pPr>
            <a:r>
              <a:rPr lang="en"/>
              <a:t>Split into test &amp; train</a:t>
            </a:r>
            <a:endParaRPr/>
          </a:p>
          <a:p>
            <a:pPr indent="-298450" lvl="1" marL="914400" rtl="0" algn="l">
              <a:spcBef>
                <a:spcPts val="0"/>
              </a:spcBef>
              <a:spcAft>
                <a:spcPts val="0"/>
              </a:spcAft>
              <a:buSzPts val="1100"/>
              <a:buChar char="○"/>
            </a:pPr>
            <a:r>
              <a:rPr lang="en"/>
              <a:t>Used 80/20 train vs test split</a:t>
            </a:r>
            <a:endParaRPr/>
          </a:p>
          <a:p>
            <a:pPr indent="-311150" lvl="0" marL="457200" rtl="0" algn="l">
              <a:spcBef>
                <a:spcPts val="0"/>
              </a:spcBef>
              <a:spcAft>
                <a:spcPts val="0"/>
              </a:spcAft>
              <a:buSzPts val="1300"/>
              <a:buChar char="●"/>
            </a:pPr>
            <a:r>
              <a:rPr lang="en"/>
              <a:t>Did not normalize any numeric features for these models</a:t>
            </a:r>
            <a:endParaRPr/>
          </a:p>
        </p:txBody>
      </p:sp>
      <p:pic>
        <p:nvPicPr>
          <p:cNvPr id="161" name="Google Shape;161;p25"/>
          <p:cNvPicPr preferRelativeResize="0"/>
          <p:nvPr/>
        </p:nvPicPr>
        <p:blipFill>
          <a:blip r:embed="rId3">
            <a:alphaModFix/>
          </a:blip>
          <a:stretch>
            <a:fillRect/>
          </a:stretch>
        </p:blipFill>
        <p:spPr>
          <a:xfrm>
            <a:off x="5966150" y="2078875"/>
            <a:ext cx="2845000" cy="1951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Type 1: Random Forest</a:t>
            </a:r>
            <a:endParaRPr/>
          </a:p>
        </p:txBody>
      </p:sp>
      <p:sp>
        <p:nvSpPr>
          <p:cNvPr id="167" name="Google Shape;167;p2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Built using scikit-learn’s RandomForestRegressor</a:t>
            </a:r>
            <a:endParaRPr/>
          </a:p>
          <a:p>
            <a:pPr indent="-311150" lvl="0" marL="457200" rtl="0" algn="l">
              <a:spcBef>
                <a:spcPts val="0"/>
              </a:spcBef>
              <a:spcAft>
                <a:spcPts val="0"/>
              </a:spcAft>
              <a:buSzPts val="1300"/>
              <a:buChar char="●"/>
            </a:pPr>
            <a:r>
              <a:rPr lang="en"/>
              <a:t>Best Parameters:</a:t>
            </a:r>
            <a:endParaRPr/>
          </a:p>
          <a:p>
            <a:pPr indent="-298450" lvl="1" marL="914400" rtl="0" algn="l">
              <a:spcBef>
                <a:spcPts val="0"/>
              </a:spcBef>
              <a:spcAft>
                <a:spcPts val="0"/>
              </a:spcAft>
              <a:buSzPts val="1100"/>
              <a:buChar char="○"/>
            </a:pPr>
            <a:r>
              <a:rPr lang="en"/>
              <a:t>Max Depth: 50</a:t>
            </a:r>
            <a:endParaRPr/>
          </a:p>
          <a:p>
            <a:pPr indent="-298450" lvl="1" marL="914400" rtl="0" algn="l">
              <a:spcBef>
                <a:spcPts val="0"/>
              </a:spcBef>
              <a:spcAft>
                <a:spcPts val="0"/>
              </a:spcAft>
              <a:buSzPts val="1100"/>
              <a:buChar char="○"/>
            </a:pPr>
            <a:r>
              <a:rPr lang="en"/>
              <a:t>Max Features: 74</a:t>
            </a:r>
            <a:endParaRPr/>
          </a:p>
          <a:p>
            <a:pPr indent="-298450" lvl="1" marL="914400" rtl="0" algn="l">
              <a:spcBef>
                <a:spcPts val="0"/>
              </a:spcBef>
              <a:spcAft>
                <a:spcPts val="0"/>
              </a:spcAft>
              <a:buSzPts val="1100"/>
              <a:buChar char="○"/>
            </a:pPr>
            <a:r>
              <a:rPr lang="en"/>
              <a:t>Estimators: 175</a:t>
            </a:r>
            <a:endParaRPr/>
          </a:p>
          <a:p>
            <a:pPr indent="-311150" lvl="0" marL="457200" marR="0" rtl="0" algn="l">
              <a:lnSpc>
                <a:spcPct val="115000"/>
              </a:lnSpc>
              <a:spcBef>
                <a:spcPts val="0"/>
              </a:spcBef>
              <a:spcAft>
                <a:spcPts val="0"/>
              </a:spcAft>
              <a:buClr>
                <a:schemeClr val="accent1"/>
              </a:buClr>
              <a:buSzPts val="1300"/>
              <a:buFont typeface="Lato"/>
              <a:buChar char="●"/>
            </a:pPr>
            <a:r>
              <a:rPr lang="en"/>
              <a:t>Results</a:t>
            </a:r>
            <a:endParaRPr/>
          </a:p>
          <a:p>
            <a:pPr indent="-298450" lvl="1" marL="914400" marR="0" rtl="0" algn="l">
              <a:lnSpc>
                <a:spcPct val="115000"/>
              </a:lnSpc>
              <a:spcBef>
                <a:spcPts val="0"/>
              </a:spcBef>
              <a:spcAft>
                <a:spcPts val="0"/>
              </a:spcAft>
              <a:buSzPts val="1100"/>
              <a:buChar char="○"/>
            </a:pPr>
            <a:r>
              <a:rPr lang="en"/>
              <a:t>R^2</a:t>
            </a:r>
            <a:endParaRPr/>
          </a:p>
          <a:p>
            <a:pPr indent="-298450" lvl="2" marL="1371600" marR="0" rtl="0" algn="l">
              <a:lnSpc>
                <a:spcPct val="115000"/>
              </a:lnSpc>
              <a:spcBef>
                <a:spcPts val="0"/>
              </a:spcBef>
              <a:spcAft>
                <a:spcPts val="0"/>
              </a:spcAft>
              <a:buSzPts val="1100"/>
              <a:buChar char="■"/>
            </a:pPr>
            <a:r>
              <a:rPr lang="en"/>
              <a:t>Train - 0.9957</a:t>
            </a:r>
            <a:endParaRPr sz="1050">
              <a:solidFill>
                <a:srgbClr val="000000"/>
              </a:solidFill>
              <a:highlight>
                <a:srgbClr val="FFFFFF"/>
              </a:highlight>
              <a:latin typeface="Arial"/>
              <a:ea typeface="Arial"/>
              <a:cs typeface="Arial"/>
              <a:sym typeface="Arial"/>
            </a:endParaRPr>
          </a:p>
          <a:p>
            <a:pPr indent="-298450" lvl="2" marL="1371600" marR="0" rtl="0" algn="l">
              <a:lnSpc>
                <a:spcPct val="115000"/>
              </a:lnSpc>
              <a:spcBef>
                <a:spcPts val="0"/>
              </a:spcBef>
              <a:spcAft>
                <a:spcPts val="0"/>
              </a:spcAft>
              <a:buSzPts val="1100"/>
              <a:buChar char="■"/>
            </a:pPr>
            <a:r>
              <a:rPr lang="en"/>
              <a:t>Test - 0.9699</a:t>
            </a:r>
            <a:endParaRPr/>
          </a:p>
          <a:p>
            <a:pPr indent="-298450" lvl="1" marL="914400" marR="0" rtl="0" algn="l">
              <a:lnSpc>
                <a:spcPct val="115000"/>
              </a:lnSpc>
              <a:spcBef>
                <a:spcPts val="0"/>
              </a:spcBef>
              <a:spcAft>
                <a:spcPts val="0"/>
              </a:spcAft>
              <a:buSzPts val="1100"/>
              <a:buChar char="○"/>
            </a:pPr>
            <a:r>
              <a:rPr lang="en"/>
              <a:t>RMSE (kWh)</a:t>
            </a:r>
            <a:endParaRPr/>
          </a:p>
          <a:p>
            <a:pPr indent="-298450" lvl="2" marL="1371600" marR="0" rtl="0" algn="l">
              <a:lnSpc>
                <a:spcPct val="115000"/>
              </a:lnSpc>
              <a:spcBef>
                <a:spcPts val="0"/>
              </a:spcBef>
              <a:spcAft>
                <a:spcPts val="0"/>
              </a:spcAft>
              <a:buSzPts val="1100"/>
              <a:buChar char="■"/>
            </a:pPr>
            <a:r>
              <a:rPr lang="en"/>
              <a:t>Train - 2,155</a:t>
            </a:r>
            <a:endParaRPr/>
          </a:p>
          <a:p>
            <a:pPr indent="-298450" lvl="2" marL="1371600" marR="0" rtl="0" algn="l">
              <a:lnSpc>
                <a:spcPct val="115000"/>
              </a:lnSpc>
              <a:spcBef>
                <a:spcPts val="0"/>
              </a:spcBef>
              <a:spcAft>
                <a:spcPts val="0"/>
              </a:spcAft>
              <a:buSzPts val="1100"/>
              <a:buChar char="■"/>
            </a:pPr>
            <a:r>
              <a:rPr lang="en"/>
              <a:t>Test - 5,631</a:t>
            </a:r>
            <a:endParaRPr/>
          </a:p>
        </p:txBody>
      </p:sp>
      <p:pic>
        <p:nvPicPr>
          <p:cNvPr id="168" name="Google Shape;168;p26"/>
          <p:cNvPicPr preferRelativeResize="0"/>
          <p:nvPr/>
        </p:nvPicPr>
        <p:blipFill>
          <a:blip r:embed="rId3">
            <a:alphaModFix/>
          </a:blip>
          <a:stretch>
            <a:fillRect/>
          </a:stretch>
        </p:blipFill>
        <p:spPr>
          <a:xfrm>
            <a:off x="4987000" y="1987038"/>
            <a:ext cx="3676650" cy="2619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Type 2: Gradient Boosted Machine</a:t>
            </a:r>
            <a:endParaRPr/>
          </a:p>
        </p:txBody>
      </p:sp>
      <p:sp>
        <p:nvSpPr>
          <p:cNvPr id="174" name="Google Shape;174;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Built using scikit-learn’s GradientBoostingRegressor</a:t>
            </a:r>
            <a:endParaRPr/>
          </a:p>
          <a:p>
            <a:pPr indent="-311150" lvl="0" marL="457200" rtl="0" algn="l">
              <a:spcBef>
                <a:spcPts val="0"/>
              </a:spcBef>
              <a:spcAft>
                <a:spcPts val="0"/>
              </a:spcAft>
              <a:buSzPts val="1300"/>
              <a:buChar char="●"/>
            </a:pPr>
            <a:r>
              <a:rPr lang="en"/>
              <a:t>Best Parameters:</a:t>
            </a:r>
            <a:endParaRPr/>
          </a:p>
          <a:p>
            <a:pPr indent="-298450" lvl="1" marL="914400" rtl="0" algn="l">
              <a:spcBef>
                <a:spcPts val="0"/>
              </a:spcBef>
              <a:spcAft>
                <a:spcPts val="0"/>
              </a:spcAft>
              <a:buSzPts val="1100"/>
              <a:buChar char="○"/>
            </a:pPr>
            <a:r>
              <a:rPr lang="en"/>
              <a:t>Max Depth: 50</a:t>
            </a:r>
            <a:endParaRPr/>
          </a:p>
          <a:p>
            <a:pPr indent="-298450" lvl="1" marL="914400" rtl="0" algn="l">
              <a:spcBef>
                <a:spcPts val="0"/>
              </a:spcBef>
              <a:spcAft>
                <a:spcPts val="0"/>
              </a:spcAft>
              <a:buSzPts val="1100"/>
              <a:buChar char="○"/>
            </a:pPr>
            <a:r>
              <a:rPr lang="en"/>
              <a:t>Max Features: 74</a:t>
            </a:r>
            <a:endParaRPr/>
          </a:p>
          <a:p>
            <a:pPr indent="-298450" lvl="1" marL="914400" rtl="0" algn="l">
              <a:spcBef>
                <a:spcPts val="0"/>
              </a:spcBef>
              <a:spcAft>
                <a:spcPts val="0"/>
              </a:spcAft>
              <a:buSzPts val="1100"/>
              <a:buChar char="○"/>
            </a:pPr>
            <a:r>
              <a:rPr lang="en"/>
              <a:t>Estimators: 175</a:t>
            </a:r>
            <a:endParaRPr/>
          </a:p>
          <a:p>
            <a:pPr indent="-311150" lvl="0" marL="457200" marR="0" rtl="0" algn="l">
              <a:lnSpc>
                <a:spcPct val="115000"/>
              </a:lnSpc>
              <a:spcBef>
                <a:spcPts val="0"/>
              </a:spcBef>
              <a:spcAft>
                <a:spcPts val="0"/>
              </a:spcAft>
              <a:buClr>
                <a:schemeClr val="accent1"/>
              </a:buClr>
              <a:buSzPts val="1300"/>
              <a:buFont typeface="Lato"/>
              <a:buChar char="●"/>
            </a:pPr>
            <a:r>
              <a:rPr lang="en"/>
              <a:t>Results</a:t>
            </a:r>
            <a:endParaRPr/>
          </a:p>
          <a:p>
            <a:pPr indent="-298450" lvl="1" marL="914400" marR="0" rtl="0" algn="l">
              <a:lnSpc>
                <a:spcPct val="115000"/>
              </a:lnSpc>
              <a:spcBef>
                <a:spcPts val="0"/>
              </a:spcBef>
              <a:spcAft>
                <a:spcPts val="0"/>
              </a:spcAft>
              <a:buSzPts val="1100"/>
              <a:buChar char="○"/>
            </a:pPr>
            <a:r>
              <a:rPr lang="en"/>
              <a:t>R^2</a:t>
            </a:r>
            <a:endParaRPr/>
          </a:p>
          <a:p>
            <a:pPr indent="-298450" lvl="2" marL="1371600" marR="0" rtl="0" algn="l">
              <a:lnSpc>
                <a:spcPct val="115000"/>
              </a:lnSpc>
              <a:spcBef>
                <a:spcPts val="0"/>
              </a:spcBef>
              <a:spcAft>
                <a:spcPts val="0"/>
              </a:spcAft>
              <a:buSzPts val="1100"/>
              <a:buChar char="■"/>
            </a:pPr>
            <a:r>
              <a:rPr lang="en"/>
              <a:t>Train - 0.9973</a:t>
            </a:r>
            <a:endParaRPr sz="1050">
              <a:solidFill>
                <a:srgbClr val="000000"/>
              </a:solidFill>
              <a:highlight>
                <a:srgbClr val="FFFFFF"/>
              </a:highlight>
              <a:latin typeface="Arial"/>
              <a:ea typeface="Arial"/>
              <a:cs typeface="Arial"/>
              <a:sym typeface="Arial"/>
            </a:endParaRPr>
          </a:p>
          <a:p>
            <a:pPr indent="-298450" lvl="2" marL="1371600" marR="0" rtl="0" algn="l">
              <a:lnSpc>
                <a:spcPct val="115000"/>
              </a:lnSpc>
              <a:spcBef>
                <a:spcPts val="0"/>
              </a:spcBef>
              <a:spcAft>
                <a:spcPts val="0"/>
              </a:spcAft>
              <a:buSzPts val="1100"/>
              <a:buChar char="■"/>
            </a:pPr>
            <a:r>
              <a:rPr lang="en"/>
              <a:t>Test - 0.9726</a:t>
            </a:r>
            <a:endParaRPr/>
          </a:p>
          <a:p>
            <a:pPr indent="-298450" lvl="1" marL="914400" marR="0" rtl="0" algn="l">
              <a:lnSpc>
                <a:spcPct val="115000"/>
              </a:lnSpc>
              <a:spcBef>
                <a:spcPts val="0"/>
              </a:spcBef>
              <a:spcAft>
                <a:spcPts val="0"/>
              </a:spcAft>
              <a:buSzPts val="1100"/>
              <a:buChar char="○"/>
            </a:pPr>
            <a:r>
              <a:rPr lang="en"/>
              <a:t>RMSE (kWh)</a:t>
            </a:r>
            <a:endParaRPr/>
          </a:p>
          <a:p>
            <a:pPr indent="-298450" lvl="2" marL="1371600" marR="0" rtl="0" algn="l">
              <a:lnSpc>
                <a:spcPct val="115000"/>
              </a:lnSpc>
              <a:spcBef>
                <a:spcPts val="0"/>
              </a:spcBef>
              <a:spcAft>
                <a:spcPts val="0"/>
              </a:spcAft>
              <a:buSzPts val="1100"/>
              <a:buChar char="■"/>
            </a:pPr>
            <a:r>
              <a:rPr lang="en"/>
              <a:t>Train - 1,722</a:t>
            </a:r>
            <a:endParaRPr/>
          </a:p>
          <a:p>
            <a:pPr indent="-298450" lvl="2" marL="1371600" marR="0" rtl="0" algn="l">
              <a:lnSpc>
                <a:spcPct val="115000"/>
              </a:lnSpc>
              <a:spcBef>
                <a:spcPts val="0"/>
              </a:spcBef>
              <a:spcAft>
                <a:spcPts val="0"/>
              </a:spcAft>
              <a:buSzPts val="1100"/>
              <a:buChar char="■"/>
            </a:pPr>
            <a:r>
              <a:rPr lang="en"/>
              <a:t>Test - 5,375</a:t>
            </a:r>
            <a:endParaRPr/>
          </a:p>
        </p:txBody>
      </p:sp>
      <p:pic>
        <p:nvPicPr>
          <p:cNvPr id="175" name="Google Shape;175;p27"/>
          <p:cNvPicPr preferRelativeResize="0"/>
          <p:nvPr/>
        </p:nvPicPr>
        <p:blipFill>
          <a:blip r:embed="rId3">
            <a:alphaModFix/>
          </a:blip>
          <a:stretch>
            <a:fillRect/>
          </a:stretch>
        </p:blipFill>
        <p:spPr>
          <a:xfrm>
            <a:off x="4988375" y="1967438"/>
            <a:ext cx="3771900" cy="2619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9" name="Shape 179"/>
        <p:cNvGrpSpPr/>
        <p:nvPr/>
      </p:nvGrpSpPr>
      <p:grpSpPr>
        <a:xfrm>
          <a:off x="0" y="0"/>
          <a:ext cx="0" cy="0"/>
          <a:chOff x="0" y="0"/>
          <a:chExt cx="0" cy="0"/>
        </a:xfrm>
      </p:grpSpPr>
      <p:sp>
        <p:nvSpPr>
          <p:cNvPr id="180" name="Google Shape;180;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Steps</a:t>
            </a:r>
            <a:endParaRPr/>
          </a:p>
        </p:txBody>
      </p:sp>
      <p:sp>
        <p:nvSpPr>
          <p:cNvPr id="181" name="Google Shape;181;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Analyze residuals based on time of day or other factors to understand where model has most difficulty</a:t>
            </a:r>
            <a:endParaRPr/>
          </a:p>
          <a:p>
            <a:pPr indent="-311150" lvl="0" marL="457200" rtl="0" algn="l">
              <a:spcBef>
                <a:spcPts val="0"/>
              </a:spcBef>
              <a:spcAft>
                <a:spcPts val="0"/>
              </a:spcAft>
              <a:buSzPts val="1300"/>
              <a:buChar char="●"/>
            </a:pPr>
            <a:r>
              <a:rPr lang="en"/>
              <a:t>Seek performance improvements with additional model types</a:t>
            </a:r>
            <a:endParaRPr/>
          </a:p>
          <a:p>
            <a:pPr indent="-298450" lvl="1" marL="914400" rtl="0" algn="l">
              <a:spcBef>
                <a:spcPts val="0"/>
              </a:spcBef>
              <a:spcAft>
                <a:spcPts val="0"/>
              </a:spcAft>
              <a:buSzPts val="1100"/>
              <a:buChar char="○"/>
            </a:pPr>
            <a:r>
              <a:rPr lang="en"/>
              <a:t>Try other boosted types (Adaboost, XGBoost, etc) since GBM model reflected slightly better performance than bagged approach</a:t>
            </a:r>
            <a:endParaRPr/>
          </a:p>
          <a:p>
            <a:pPr indent="-311150" lvl="0" marL="457200" rtl="0" algn="l">
              <a:spcBef>
                <a:spcPts val="0"/>
              </a:spcBef>
              <a:spcAft>
                <a:spcPts val="0"/>
              </a:spcAft>
              <a:buSzPts val="1300"/>
              <a:buChar char="●"/>
            </a:pPr>
            <a:r>
              <a:rPr lang="en"/>
              <a:t>Apply RNN to consumption data to understand performance difference between tree-based models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5" name="Shape 185"/>
        <p:cNvGrpSpPr/>
        <p:nvPr/>
      </p:nvGrpSpPr>
      <p:grpSpPr>
        <a:xfrm>
          <a:off x="0" y="0"/>
          <a:ext cx="0" cy="0"/>
          <a:chOff x="0" y="0"/>
          <a:chExt cx="0" cy="0"/>
        </a:xfrm>
      </p:grpSpPr>
      <p:sp>
        <p:nvSpPr>
          <p:cNvPr id="186" name="Google Shape;186;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Wind Power Production Modeling</a:t>
            </a:r>
            <a:endParaRPr/>
          </a:p>
        </p:txBody>
      </p:sp>
      <p:sp>
        <p:nvSpPr>
          <p:cNvPr id="187" name="Google Shape;187;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Modeling Strategy</a:t>
            </a:r>
            <a:endParaRPr/>
          </a:p>
          <a:p>
            <a:pPr indent="-311150" lvl="0" marL="457200" rtl="0" algn="l">
              <a:spcBef>
                <a:spcPts val="0"/>
              </a:spcBef>
              <a:spcAft>
                <a:spcPts val="0"/>
              </a:spcAft>
              <a:buSzPts val="1300"/>
              <a:buChar char="●"/>
            </a:pPr>
            <a:r>
              <a:rPr lang="en"/>
              <a:t>Preprocessing</a:t>
            </a:r>
            <a:endParaRPr/>
          </a:p>
          <a:p>
            <a:pPr indent="-311150" lvl="0" marL="457200" rtl="0" algn="l">
              <a:spcBef>
                <a:spcPts val="0"/>
              </a:spcBef>
              <a:spcAft>
                <a:spcPts val="0"/>
              </a:spcAft>
              <a:buSzPts val="1300"/>
              <a:buChar char="●"/>
            </a:pPr>
            <a:r>
              <a:rPr lang="en"/>
              <a:t>Model Details</a:t>
            </a:r>
            <a:endParaRPr/>
          </a:p>
          <a:p>
            <a:pPr indent="-311150" lvl="0" marL="457200" rtl="0" algn="l">
              <a:spcBef>
                <a:spcPts val="0"/>
              </a:spcBef>
              <a:spcAft>
                <a:spcPts val="0"/>
              </a:spcAft>
              <a:buSzPts val="1300"/>
              <a:buChar char="●"/>
            </a:pPr>
            <a:r>
              <a:rPr lang="en"/>
              <a:t>Next Steps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1" name="Shape 191"/>
        <p:cNvGrpSpPr/>
        <p:nvPr/>
      </p:nvGrpSpPr>
      <p:grpSpPr>
        <a:xfrm>
          <a:off x="0" y="0"/>
          <a:ext cx="0" cy="0"/>
          <a:chOff x="0" y="0"/>
          <a:chExt cx="0" cy="0"/>
        </a:xfrm>
      </p:grpSpPr>
      <p:sp>
        <p:nvSpPr>
          <p:cNvPr id="192" name="Google Shape;192;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Modeling Strategy</a:t>
            </a:r>
            <a:endParaRPr/>
          </a:p>
        </p:txBody>
      </p:sp>
      <p:sp>
        <p:nvSpPr>
          <p:cNvPr id="193" name="Google Shape;193;p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Forecasting methods, first ARIMA, then SARIMAX</a:t>
            </a:r>
            <a:endParaRPr/>
          </a:p>
          <a:p>
            <a:pPr indent="-311150" lvl="0" marL="457200" rtl="0" algn="l">
              <a:spcBef>
                <a:spcPts val="0"/>
              </a:spcBef>
              <a:spcAft>
                <a:spcPts val="0"/>
              </a:spcAft>
              <a:buSzPts val="1300"/>
              <a:buChar char="●"/>
            </a:pPr>
            <a:r>
              <a:rPr lang="en"/>
              <a:t>One-Step ahead forecasting</a:t>
            </a:r>
            <a:endParaRPr/>
          </a:p>
          <a:p>
            <a:pPr indent="-311150" lvl="0" marL="457200" rtl="0" algn="l">
              <a:spcBef>
                <a:spcPts val="0"/>
              </a:spcBef>
              <a:spcAft>
                <a:spcPts val="0"/>
              </a:spcAft>
              <a:buSzPts val="1300"/>
              <a:buChar char="●"/>
            </a:pPr>
            <a:r>
              <a:rPr lang="en"/>
              <a:t>Success measure: MSE (hourly level) and Graphical compared against a baseline model method. </a:t>
            </a:r>
            <a:endParaRPr/>
          </a:p>
          <a:p>
            <a:pPr indent="-298450" lvl="1" marL="914400" rtl="0" algn="l">
              <a:spcBef>
                <a:spcPts val="0"/>
              </a:spcBef>
              <a:spcAft>
                <a:spcPts val="0"/>
              </a:spcAft>
              <a:buSzPts val="1100"/>
              <a:buChar char="○"/>
            </a:pPr>
            <a:r>
              <a:rPr lang="en"/>
              <a:t>The baseline model is a simple persistence model, i.e. the next step is the same as the previous. </a:t>
            </a:r>
            <a:endParaRPr/>
          </a:p>
          <a:p>
            <a:pPr indent="-311150" lvl="0" marL="457200" rtl="0" algn="l">
              <a:spcBef>
                <a:spcPts val="0"/>
              </a:spcBef>
              <a:spcAft>
                <a:spcPts val="0"/>
              </a:spcAft>
              <a:buSzPts val="1300"/>
              <a:buChar char="●"/>
            </a:pPr>
            <a:r>
              <a:rPr lang="en"/>
              <a:t>Tuning method: Eyeball, (Future: Grid Search)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a:t>Wind Power</a:t>
            </a:r>
            <a:r>
              <a:rPr lang="en"/>
              <a:t> Preprocessing</a:t>
            </a:r>
            <a:endParaRPr/>
          </a:p>
          <a:p>
            <a:pPr indent="0" lvl="0" marL="0" rtl="0" algn="l">
              <a:spcBef>
                <a:spcPts val="0"/>
              </a:spcBef>
              <a:spcAft>
                <a:spcPts val="0"/>
              </a:spcAft>
              <a:buNone/>
            </a:pPr>
            <a:r>
              <a:t/>
            </a:r>
            <a:endParaRPr/>
          </a:p>
        </p:txBody>
      </p:sp>
      <p:sp>
        <p:nvSpPr>
          <p:cNvPr id="199" name="Google Shape;199;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Had to decide how to handle missing Wind Production data. There were several extended periods of missing data ranging from a couple hours to almost 3 days of missing data. Decided to use simple linear interpolation.</a:t>
            </a:r>
            <a:endParaRPr/>
          </a:p>
          <a:p>
            <a:pPr indent="-311150" lvl="0" marL="457200" rtl="0" algn="l">
              <a:spcBef>
                <a:spcPts val="0"/>
              </a:spcBef>
              <a:spcAft>
                <a:spcPts val="0"/>
              </a:spcAft>
              <a:buSzPts val="1300"/>
              <a:buChar char="●"/>
            </a:pPr>
            <a:r>
              <a:rPr lang="en"/>
              <a:t>Had to decide how I wanted to split my train and testing set. Decided to begin varying my training set size to see how that affected predictions. I.e 24 hour training set, 48 hour training set, 1 week training set, 1 month training set, etc. etc.</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3" name="Shape 203"/>
        <p:cNvGrpSpPr/>
        <p:nvPr/>
      </p:nvGrpSpPr>
      <p:grpSpPr>
        <a:xfrm>
          <a:off x="0" y="0"/>
          <a:ext cx="0" cy="0"/>
          <a:chOff x="0" y="0"/>
          <a:chExt cx="0" cy="0"/>
        </a:xfrm>
      </p:grpSpPr>
      <p:sp>
        <p:nvSpPr>
          <p:cNvPr id="204" name="Google Shape;204;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ARIMA Model</a:t>
            </a:r>
            <a:endParaRPr/>
          </a:p>
        </p:txBody>
      </p:sp>
      <p:sp>
        <p:nvSpPr>
          <p:cNvPr id="205" name="Google Shape;205;p32"/>
          <p:cNvSpPr txBox="1"/>
          <p:nvPr>
            <p:ph idx="1" type="body"/>
          </p:nvPr>
        </p:nvSpPr>
        <p:spPr>
          <a:xfrm>
            <a:off x="729450" y="2078875"/>
            <a:ext cx="3723900" cy="27525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Example</a:t>
            </a:r>
            <a:r>
              <a:rPr lang="en"/>
              <a:t> Parameters:</a:t>
            </a:r>
            <a:endParaRPr/>
          </a:p>
          <a:p>
            <a:pPr indent="-298450" lvl="1" marL="914400" rtl="0" algn="l">
              <a:spcBef>
                <a:spcPts val="0"/>
              </a:spcBef>
              <a:spcAft>
                <a:spcPts val="0"/>
              </a:spcAft>
              <a:buSzPts val="1100"/>
              <a:buChar char="○"/>
            </a:pPr>
            <a:r>
              <a:rPr lang="en"/>
              <a:t>Train Size:  3 months (24*90)</a:t>
            </a:r>
            <a:endParaRPr/>
          </a:p>
          <a:p>
            <a:pPr indent="-298450" lvl="1" marL="914400" rtl="0" algn="l">
              <a:spcBef>
                <a:spcPts val="0"/>
              </a:spcBef>
              <a:spcAft>
                <a:spcPts val="0"/>
              </a:spcAft>
              <a:buSzPts val="1100"/>
              <a:buChar char="○"/>
            </a:pPr>
            <a:r>
              <a:rPr lang="en"/>
              <a:t>Test Size: 24 hrs</a:t>
            </a:r>
            <a:endParaRPr/>
          </a:p>
          <a:p>
            <a:pPr indent="-298450" lvl="1" marL="914400" rtl="0" algn="l">
              <a:spcBef>
                <a:spcPts val="0"/>
              </a:spcBef>
              <a:spcAft>
                <a:spcPts val="0"/>
              </a:spcAft>
              <a:buSzPts val="1100"/>
              <a:buChar char="○"/>
            </a:pPr>
            <a:r>
              <a:rPr lang="en"/>
              <a:t>ARIMA(1,0,1)</a:t>
            </a:r>
            <a:endParaRPr/>
          </a:p>
          <a:p>
            <a:pPr indent="-311150" lvl="0" marL="457200" rtl="0" algn="l">
              <a:spcBef>
                <a:spcPts val="0"/>
              </a:spcBef>
              <a:spcAft>
                <a:spcPts val="0"/>
              </a:spcAft>
              <a:buSzPts val="1300"/>
              <a:buChar char="●"/>
            </a:pPr>
            <a:r>
              <a:rPr lang="en"/>
              <a:t>Results</a:t>
            </a:r>
            <a:endParaRPr/>
          </a:p>
          <a:p>
            <a:pPr indent="-298450" lvl="1" marL="914400" rtl="0" algn="l">
              <a:spcBef>
                <a:spcPts val="0"/>
              </a:spcBef>
              <a:spcAft>
                <a:spcPts val="0"/>
              </a:spcAft>
              <a:buSzPts val="1100"/>
              <a:buChar char="○"/>
            </a:pPr>
            <a:r>
              <a:rPr lang="en"/>
              <a:t>Forecast MSE</a:t>
            </a:r>
            <a:endParaRPr/>
          </a:p>
          <a:p>
            <a:pPr indent="-298450" lvl="2" marL="1371600" rtl="0" algn="l">
              <a:spcBef>
                <a:spcPts val="0"/>
              </a:spcBef>
              <a:spcAft>
                <a:spcPts val="0"/>
              </a:spcAft>
              <a:buSzPts val="1100"/>
              <a:buChar char="■"/>
            </a:pPr>
            <a:r>
              <a:rPr lang="en"/>
              <a:t>ARIMA - 	50,208,043</a:t>
            </a:r>
            <a:endParaRPr sz="1050">
              <a:solidFill>
                <a:srgbClr val="000000"/>
              </a:solidFill>
              <a:highlight>
                <a:schemeClr val="lt1"/>
              </a:highlight>
              <a:latin typeface="Arial"/>
              <a:ea typeface="Arial"/>
              <a:cs typeface="Arial"/>
              <a:sym typeface="Arial"/>
            </a:endParaRPr>
          </a:p>
          <a:p>
            <a:pPr indent="-298450" lvl="2" marL="1371600" rtl="0" algn="l">
              <a:spcBef>
                <a:spcPts val="0"/>
              </a:spcBef>
              <a:spcAft>
                <a:spcPts val="0"/>
              </a:spcAft>
              <a:buSzPts val="1100"/>
              <a:buChar char="■"/>
            </a:pPr>
            <a:r>
              <a:rPr lang="en"/>
              <a:t>Persistence - 	37,235,909</a:t>
            </a:r>
            <a:endParaRPr/>
          </a:p>
          <a:p>
            <a:pPr indent="-298450" lvl="1" marL="914400" rtl="0" algn="l">
              <a:spcBef>
                <a:spcPts val="0"/>
              </a:spcBef>
              <a:spcAft>
                <a:spcPts val="0"/>
              </a:spcAft>
              <a:buSzPts val="1100"/>
              <a:buChar char="○"/>
            </a:pPr>
            <a:r>
              <a:rPr lang="en"/>
              <a:t>AIC - 42,586</a:t>
            </a:r>
            <a:endParaRPr/>
          </a:p>
          <a:p>
            <a:pPr indent="0" lvl="0" marL="0" marR="0" rtl="0" algn="l">
              <a:lnSpc>
                <a:spcPct val="115000"/>
              </a:lnSpc>
              <a:spcBef>
                <a:spcPts val="1600"/>
              </a:spcBef>
              <a:spcAft>
                <a:spcPts val="0"/>
              </a:spcAft>
              <a:buNone/>
            </a:pPr>
            <a:r>
              <a:t/>
            </a:r>
            <a:endParaRPr/>
          </a:p>
          <a:p>
            <a:pPr indent="0" lvl="0" marL="0" rtl="0" algn="l">
              <a:spcBef>
                <a:spcPts val="1600"/>
              </a:spcBef>
              <a:spcAft>
                <a:spcPts val="1600"/>
              </a:spcAft>
              <a:buNone/>
            </a:pPr>
            <a:r>
              <a:t/>
            </a:r>
            <a:endParaRPr/>
          </a:p>
        </p:txBody>
      </p:sp>
      <p:pic>
        <p:nvPicPr>
          <p:cNvPr id="206" name="Google Shape;206;p32"/>
          <p:cNvPicPr preferRelativeResize="0"/>
          <p:nvPr/>
        </p:nvPicPr>
        <p:blipFill>
          <a:blip r:embed="rId3">
            <a:alphaModFix/>
          </a:blip>
          <a:stretch>
            <a:fillRect/>
          </a:stretch>
        </p:blipFill>
        <p:spPr>
          <a:xfrm>
            <a:off x="4232525" y="1030775"/>
            <a:ext cx="4589125" cy="36355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ARIMA Forecast Plot</a:t>
            </a:r>
            <a:endParaRPr/>
          </a:p>
        </p:txBody>
      </p:sp>
      <p:pic>
        <p:nvPicPr>
          <p:cNvPr id="212" name="Google Shape;212;p33"/>
          <p:cNvPicPr preferRelativeResize="0"/>
          <p:nvPr/>
        </p:nvPicPr>
        <p:blipFill>
          <a:blip r:embed="rId3">
            <a:alphaModFix/>
          </a:blip>
          <a:stretch>
            <a:fillRect/>
          </a:stretch>
        </p:blipFill>
        <p:spPr>
          <a:xfrm>
            <a:off x="619150" y="1853852"/>
            <a:ext cx="7633812" cy="3064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SARIMAX Model</a:t>
            </a:r>
            <a:endParaRPr/>
          </a:p>
        </p:txBody>
      </p:sp>
      <p:sp>
        <p:nvSpPr>
          <p:cNvPr id="218" name="Google Shape;218;p34"/>
          <p:cNvSpPr txBox="1"/>
          <p:nvPr>
            <p:ph idx="1" type="body"/>
          </p:nvPr>
        </p:nvSpPr>
        <p:spPr>
          <a:xfrm>
            <a:off x="729450" y="2078875"/>
            <a:ext cx="38595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Example Parameters:</a:t>
            </a:r>
            <a:endParaRPr/>
          </a:p>
          <a:p>
            <a:pPr indent="-298450" lvl="1" marL="914400" rtl="0" algn="l">
              <a:spcBef>
                <a:spcPts val="0"/>
              </a:spcBef>
              <a:spcAft>
                <a:spcPts val="0"/>
              </a:spcAft>
              <a:buSzPts val="1100"/>
              <a:buChar char="○"/>
            </a:pPr>
            <a:r>
              <a:rPr lang="en"/>
              <a:t>Train Size:  3 months (24*90)</a:t>
            </a:r>
            <a:endParaRPr/>
          </a:p>
          <a:p>
            <a:pPr indent="-298450" lvl="1" marL="914400" rtl="0" algn="l">
              <a:spcBef>
                <a:spcPts val="0"/>
              </a:spcBef>
              <a:spcAft>
                <a:spcPts val="0"/>
              </a:spcAft>
              <a:buSzPts val="1100"/>
              <a:buChar char="○"/>
            </a:pPr>
            <a:r>
              <a:rPr lang="en"/>
              <a:t>Test Size: 24 hrs</a:t>
            </a:r>
            <a:endParaRPr/>
          </a:p>
          <a:p>
            <a:pPr indent="-298450" lvl="1" marL="914400" rtl="0" algn="l">
              <a:spcBef>
                <a:spcPts val="0"/>
              </a:spcBef>
              <a:spcAft>
                <a:spcPts val="0"/>
              </a:spcAft>
              <a:buSzPts val="1100"/>
              <a:buChar char="○"/>
            </a:pPr>
            <a:r>
              <a:rPr lang="en"/>
              <a:t>SARIMAX(1,0,1)(0,0,0,0) with Wind Speed</a:t>
            </a:r>
            <a:endParaRPr/>
          </a:p>
          <a:p>
            <a:pPr indent="-311150" lvl="0" marL="457200" rtl="0" algn="l">
              <a:spcBef>
                <a:spcPts val="0"/>
              </a:spcBef>
              <a:spcAft>
                <a:spcPts val="0"/>
              </a:spcAft>
              <a:buSzPts val="1300"/>
              <a:buChar char="●"/>
            </a:pPr>
            <a:r>
              <a:rPr lang="en"/>
              <a:t>Results</a:t>
            </a:r>
            <a:endParaRPr/>
          </a:p>
          <a:p>
            <a:pPr indent="-298450" lvl="1" marL="914400" rtl="0" algn="l">
              <a:spcBef>
                <a:spcPts val="0"/>
              </a:spcBef>
              <a:spcAft>
                <a:spcPts val="0"/>
              </a:spcAft>
              <a:buSzPts val="1100"/>
              <a:buChar char="○"/>
            </a:pPr>
            <a:r>
              <a:rPr lang="en"/>
              <a:t>Forecast MSE</a:t>
            </a:r>
            <a:endParaRPr/>
          </a:p>
          <a:p>
            <a:pPr indent="-298450" lvl="2" marL="1371600" rtl="0" algn="l">
              <a:spcBef>
                <a:spcPts val="0"/>
              </a:spcBef>
              <a:spcAft>
                <a:spcPts val="0"/>
              </a:spcAft>
              <a:buSzPts val="1100"/>
              <a:buChar char="■"/>
            </a:pPr>
            <a:r>
              <a:rPr lang="en"/>
              <a:t>SARIMAX - 	11,119,427</a:t>
            </a:r>
            <a:endParaRPr sz="1050">
              <a:solidFill>
                <a:srgbClr val="000000"/>
              </a:solidFill>
              <a:highlight>
                <a:schemeClr val="lt1"/>
              </a:highlight>
              <a:latin typeface="Arial"/>
              <a:ea typeface="Arial"/>
              <a:cs typeface="Arial"/>
              <a:sym typeface="Arial"/>
            </a:endParaRPr>
          </a:p>
          <a:p>
            <a:pPr indent="-298450" lvl="2" marL="1371600" rtl="0" algn="l">
              <a:spcBef>
                <a:spcPts val="0"/>
              </a:spcBef>
              <a:spcAft>
                <a:spcPts val="0"/>
              </a:spcAft>
              <a:buSzPts val="1100"/>
              <a:buChar char="■"/>
            </a:pPr>
            <a:r>
              <a:rPr lang="en"/>
              <a:t>Persistence - 	37,235,909</a:t>
            </a:r>
            <a:endParaRPr/>
          </a:p>
          <a:p>
            <a:pPr indent="-298450" lvl="1" marL="914400" rtl="0" algn="l">
              <a:spcBef>
                <a:spcPts val="0"/>
              </a:spcBef>
              <a:spcAft>
                <a:spcPts val="0"/>
              </a:spcAft>
              <a:buSzPts val="1100"/>
              <a:buChar char="○"/>
            </a:pPr>
            <a:r>
              <a:rPr lang="en"/>
              <a:t>AIC - 39,754</a:t>
            </a:r>
            <a:endParaRPr/>
          </a:p>
          <a:p>
            <a:pPr indent="0" lvl="0" marL="0" rtl="0" algn="l">
              <a:spcBef>
                <a:spcPts val="1600"/>
              </a:spcBef>
              <a:spcAft>
                <a:spcPts val="0"/>
              </a:spcAft>
              <a:buClr>
                <a:srgbClr val="000000"/>
              </a:buClr>
              <a:buSzPts val="1100"/>
              <a:buFont typeface="Arial"/>
              <a:buNone/>
            </a:pPr>
            <a:r>
              <a:t/>
            </a:r>
            <a:endParaRPr/>
          </a:p>
          <a:p>
            <a:pPr indent="0" lvl="0" marL="0" rtl="0" algn="l">
              <a:spcBef>
                <a:spcPts val="1600"/>
              </a:spcBef>
              <a:spcAft>
                <a:spcPts val="0"/>
              </a:spcAft>
              <a:buClr>
                <a:srgbClr val="000000"/>
              </a:buClr>
              <a:buSzPts val="1100"/>
              <a:buFont typeface="Arial"/>
              <a:buNone/>
            </a:pPr>
            <a:r>
              <a:t/>
            </a:r>
            <a:endParaRPr/>
          </a:p>
          <a:p>
            <a:pPr indent="0" lvl="0" marL="0" rtl="0" algn="l">
              <a:spcBef>
                <a:spcPts val="1600"/>
              </a:spcBef>
              <a:spcAft>
                <a:spcPts val="1600"/>
              </a:spcAft>
              <a:buNone/>
            </a:pPr>
            <a:r>
              <a:t/>
            </a:r>
            <a:endParaRPr/>
          </a:p>
        </p:txBody>
      </p:sp>
      <p:pic>
        <p:nvPicPr>
          <p:cNvPr id="219" name="Google Shape;219;p34"/>
          <p:cNvPicPr preferRelativeResize="0"/>
          <p:nvPr/>
        </p:nvPicPr>
        <p:blipFill>
          <a:blip r:embed="rId3">
            <a:alphaModFix/>
          </a:blip>
          <a:stretch>
            <a:fillRect/>
          </a:stretch>
        </p:blipFill>
        <p:spPr>
          <a:xfrm>
            <a:off x="4444775" y="1064275"/>
            <a:ext cx="4521100" cy="36219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SARIMAX Forecasts</a:t>
            </a:r>
            <a:endParaRPr/>
          </a:p>
        </p:txBody>
      </p:sp>
      <p:sp>
        <p:nvSpPr>
          <p:cNvPr id="225" name="Google Shape;225;p3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26" name="Google Shape;226;p35"/>
          <p:cNvPicPr preferRelativeResize="0"/>
          <p:nvPr/>
        </p:nvPicPr>
        <p:blipFill>
          <a:blip r:embed="rId3">
            <a:alphaModFix/>
          </a:blip>
          <a:stretch>
            <a:fillRect/>
          </a:stretch>
        </p:blipFill>
        <p:spPr>
          <a:xfrm>
            <a:off x="223822" y="1853849"/>
            <a:ext cx="8194328" cy="32896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0" name="Shape 230"/>
        <p:cNvGrpSpPr/>
        <p:nvPr/>
      </p:nvGrpSpPr>
      <p:grpSpPr>
        <a:xfrm>
          <a:off x="0" y="0"/>
          <a:ext cx="0" cy="0"/>
          <a:chOff x="0" y="0"/>
          <a:chExt cx="0" cy="0"/>
        </a:xfrm>
      </p:grpSpPr>
      <p:sp>
        <p:nvSpPr>
          <p:cNvPr id="231" name="Google Shape;231;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Steps</a:t>
            </a:r>
            <a:endParaRPr/>
          </a:p>
        </p:txBody>
      </p:sp>
      <p:sp>
        <p:nvSpPr>
          <p:cNvPr id="232" name="Google Shape;232;p36"/>
          <p:cNvSpPr txBox="1"/>
          <p:nvPr>
            <p:ph idx="1" type="body"/>
          </p:nvPr>
        </p:nvSpPr>
        <p:spPr>
          <a:xfrm>
            <a:off x="729450" y="2078875"/>
            <a:ext cx="7688700" cy="29307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Analyze residuals based on a more robust search of training sizes and time periods.</a:t>
            </a:r>
            <a:endParaRPr/>
          </a:p>
          <a:p>
            <a:pPr indent="-298450" lvl="1" marL="914400" rtl="0" algn="l">
              <a:spcBef>
                <a:spcPts val="0"/>
              </a:spcBef>
              <a:spcAft>
                <a:spcPts val="0"/>
              </a:spcAft>
              <a:buSzPts val="1100"/>
              <a:buChar char="○"/>
            </a:pPr>
            <a:r>
              <a:rPr lang="en"/>
              <a:t>I do not think simple ARIMA models will work for wind production, as I have not found any that perform better than persistence.</a:t>
            </a:r>
            <a:endParaRPr/>
          </a:p>
          <a:p>
            <a:pPr indent="0" lvl="0" marL="914400" rtl="0" algn="l">
              <a:spcBef>
                <a:spcPts val="1600"/>
              </a:spcBef>
              <a:spcAft>
                <a:spcPts val="0"/>
              </a:spcAft>
              <a:buNone/>
            </a:pPr>
            <a:r>
              <a:t/>
            </a:r>
            <a:endParaRPr/>
          </a:p>
          <a:p>
            <a:pPr indent="-311150" lvl="0" marL="457200" rtl="0" algn="l">
              <a:spcBef>
                <a:spcPts val="1600"/>
              </a:spcBef>
              <a:spcAft>
                <a:spcPts val="0"/>
              </a:spcAft>
              <a:buSzPts val="1300"/>
              <a:buChar char="●"/>
            </a:pPr>
            <a:r>
              <a:rPr lang="en"/>
              <a:t>Determine if wind speed for the next hour is an appropriate predictor.</a:t>
            </a:r>
            <a:endParaRPr/>
          </a:p>
          <a:p>
            <a:pPr indent="-298450" lvl="1" marL="914400" rtl="0" algn="l">
              <a:spcBef>
                <a:spcPts val="0"/>
              </a:spcBef>
              <a:spcAft>
                <a:spcPts val="0"/>
              </a:spcAft>
              <a:buSzPts val="1100"/>
              <a:buChar char="○"/>
            </a:pPr>
            <a:r>
              <a:rPr lang="en"/>
              <a:t>Shifting wind speed back an hour, SARIMAX still outperforms Persistence, however only marginally.</a:t>
            </a:r>
            <a:endParaRPr/>
          </a:p>
          <a:p>
            <a:pPr indent="0" lvl="0" marL="914400" rtl="0" algn="l">
              <a:spcBef>
                <a:spcPts val="1600"/>
              </a:spcBef>
              <a:spcAft>
                <a:spcPts val="0"/>
              </a:spcAft>
              <a:buNone/>
            </a:pPr>
            <a:r>
              <a:t/>
            </a:r>
            <a:endParaRPr/>
          </a:p>
          <a:p>
            <a:pPr indent="-311150" lvl="0" marL="457200" rtl="0" algn="l">
              <a:spcBef>
                <a:spcPts val="1600"/>
              </a:spcBef>
              <a:spcAft>
                <a:spcPts val="0"/>
              </a:spcAft>
              <a:buSzPts val="1300"/>
              <a:buChar char="●"/>
            </a:pPr>
            <a:r>
              <a:rPr lang="en"/>
              <a:t>Figure out if SARIMAX provides confidence intervals on forecasts (ARIMA does)</a:t>
            </a:r>
            <a:endParaRPr/>
          </a:p>
          <a:p>
            <a:pPr indent="0" lvl="0" marL="91440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